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68" r:id="rId6"/>
    <p:sldId id="259" r:id="rId7"/>
    <p:sldId id="260" r:id="rId8"/>
    <p:sldId id="269" r:id="rId9"/>
    <p:sldId id="262" r:id="rId10"/>
    <p:sldId id="272" r:id="rId11"/>
    <p:sldId id="277" r:id="rId12"/>
    <p:sldId id="271" r:id="rId13"/>
    <p:sldId id="273" r:id="rId14"/>
    <p:sldId id="274" r:id="rId15"/>
    <p:sldId id="275" r:id="rId16"/>
    <p:sldId id="276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14067"/>
    <a:srgbClr val="3F3F3F"/>
    <a:srgbClr val="014E7D"/>
    <a:srgbClr val="013657"/>
    <a:srgbClr val="01456F"/>
    <a:srgbClr val="014B79"/>
    <a:srgbClr val="0937C9"/>
    <a:srgbClr val="002774"/>
    <a:srgbClr val="929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3" autoAdjust="0"/>
    <p:restoredTop sz="94674" autoAdjust="0"/>
  </p:normalViewPr>
  <p:slideViewPr>
    <p:cSldViewPr snapToGrid="0" showGuides="1">
      <p:cViewPr varScale="1">
        <p:scale>
          <a:sx n="67" d="100"/>
          <a:sy n="67" d="100"/>
        </p:scale>
        <p:origin x="102" y="468"/>
      </p:cViewPr>
      <p:guideLst>
        <p:guide pos="3840"/>
        <p:guide pos="597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BEDA40-91A9-49DC-B402-0EBE674AA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CBB508-5589-42E7-A433-D119AC0FFB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BFC85-49E4-447A-A7E3-16153CB2FE2A}" type="datetimeFigureOut">
              <a:rPr lang="en-US" smtClean="0"/>
              <a:t>5/21/2019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232ABA-B33A-4B3B-8412-C1773FBF3D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1832E-3B48-42CB-80A7-CD8E48D52D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072A3-100F-40A9-915F-8D2D9E6962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5371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1B50E-4C60-4F9E-B773-52059170945B}" type="datetimeFigureOut">
              <a:rPr lang="en-US" noProof="0" smtClean="0"/>
              <a:t>5/21/2019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30CFA-805A-4FD3-B3A0-DAAA5993DA1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8927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3B47EE6-EDE6-4881-B456-B37D9C1A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SUBTITLE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045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537" userDrawn="1">
          <p15:clr>
            <a:srgbClr val="FBAE40"/>
          </p15:clr>
        </p15:guide>
        <p15:guide id="3" pos="138" userDrawn="1">
          <p15:clr>
            <a:srgbClr val="FBAE40"/>
          </p15:clr>
        </p15:guide>
        <p15:guide id="4" orient="horz" pos="4178" userDrawn="1">
          <p15:clr>
            <a:srgbClr val="FBAE40"/>
          </p15:clr>
        </p15:guide>
        <p15:guide id="5" orient="horz" pos="142" userDrawn="1">
          <p15:clr>
            <a:srgbClr val="FBAE40"/>
          </p15:clr>
        </p15:guide>
        <p15:guide id="6" pos="2457" userDrawn="1">
          <p15:clr>
            <a:srgbClr val="FBAE40"/>
          </p15:clr>
        </p15:guide>
        <p15:guide id="7" pos="4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5572AA9-EFAE-4771-B1EE-47E361173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3998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143" userDrawn="1">
          <p15:clr>
            <a:srgbClr val="FBAE40"/>
          </p15:clr>
        </p15:guide>
        <p15:guide id="4" orient="horz" pos="4170" userDrawn="1">
          <p15:clr>
            <a:srgbClr val="FBAE40"/>
          </p15:clr>
        </p15:guide>
        <p15:guide id="5" pos="7537" userDrawn="1">
          <p15:clr>
            <a:srgbClr val="FBAE40"/>
          </p15:clr>
        </p15:guide>
        <p15:guide id="6" orient="horz" pos="14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title="Bullet Point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96915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BD6ACE60-499D-41AB-89C4-D537D7C3D22A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>
            <a:avLst/>
          </a:prstGeom>
          <a:ln>
            <a:solidFill>
              <a:srgbClr val="EAB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563477"/>
            <a:ext cx="734263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Title 1" title="Title ">
            <a:extLst>
              <a:ext uri="{FF2B5EF4-FFF2-40B4-BE49-F238E27FC236}">
                <a16:creationId xmlns:a16="http://schemas.microsoft.com/office/drawing/2014/main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1378" y="1308484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E1FADFB-0A3D-40F7-9B40-368DECD97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0" y="0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4223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805F1696-7D6B-4055-94C3-E4C179F63596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B9EC3A9-7039-403A-9414-429521308A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177" y="1435100"/>
            <a:ext cx="6021821" cy="5422900"/>
          </a:xfrm>
          <a:custGeom>
            <a:avLst/>
            <a:gdLst>
              <a:gd name="connsiteX0" fmla="*/ 6021821 w 6021821"/>
              <a:gd name="connsiteY0" fmla="*/ 0 h 5422900"/>
              <a:gd name="connsiteX1" fmla="*/ 6021821 w 6021821"/>
              <a:gd name="connsiteY1" fmla="*/ 5422900 h 5422900"/>
              <a:gd name="connsiteX2" fmla="*/ 0 w 6021821"/>
              <a:gd name="connsiteY2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21821" h="5422900">
                <a:moveTo>
                  <a:pt x="6021821" y="0"/>
                </a:moveTo>
                <a:lnTo>
                  <a:pt x="6021821" y="5422900"/>
                </a:lnTo>
                <a:lnTo>
                  <a:pt x="0" y="5422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Ins="365760" anchor="ctr">
            <a:noAutofit/>
          </a:bodyPr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Content Placeholder 2" title="Bullet Point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96915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352314" y="1185452"/>
            <a:ext cx="1839685" cy="163394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563477"/>
            <a:ext cx="734262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B154C1-CE47-4220-9832-4FD0868A64A8}"/>
              </a:ext>
            </a:extLst>
          </p:cNvPr>
          <p:cNvSpPr txBox="1"/>
          <p:nvPr userDrawn="1"/>
        </p:nvSpPr>
        <p:spPr>
          <a:xfrm>
            <a:off x="11073384" y="237744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19" name="Title 1" title="Title ">
            <a:extLst>
              <a:ext uri="{FF2B5EF4-FFF2-40B4-BE49-F238E27FC236}">
                <a16:creationId xmlns:a16="http://schemas.microsoft.com/office/drawing/2014/main" id="{2DB9D671-9FC8-4306-96B7-D9D585694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378" y="1308484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55A0B9-F639-8643-9C4D-B93B8EE21A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29282-8AC7-494D-9A8E-A26C7F6994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83110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i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2E19FBD-2379-4B3B-910D-F51E007CB63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8" name="Content Placeholder 3" title="Bullet Points">
            <a:extLst>
              <a:ext uri="{FF2B5EF4-FFF2-40B4-BE49-F238E27FC236}">
                <a16:creationId xmlns:a16="http://schemas.microsoft.com/office/drawing/2014/main" id="{8715E757-6584-4841-8154-C92E70E0CD6B}"/>
              </a:ext>
            </a:extLst>
          </p:cNvPr>
          <p:cNvSpPr>
            <a:spLocks noGrp="1"/>
          </p:cNvSpPr>
          <p:nvPr userDrawn="1">
            <p:ph sz="half" idx="13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IN" dirty="0">
                <a:solidFill>
                  <a:schemeClr val="tx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/>
              <a:t>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/>
              <a:t>Fifth level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0" name="Content Placeholder 5" title="Bullet Points">
            <a:extLst>
              <a:ext uri="{FF2B5EF4-FFF2-40B4-BE49-F238E27FC236}">
                <a16:creationId xmlns:a16="http://schemas.microsoft.com/office/drawing/2014/main" id="{D957FBD7-2C3C-4DD1-954F-DF1E007BE590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IN" dirty="0">
                <a:solidFill>
                  <a:schemeClr val="tx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/>
              <a:t>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/>
              <a:t>Fifth level</a:t>
            </a:r>
          </a:p>
        </p:txBody>
      </p:sp>
      <p:sp>
        <p:nvSpPr>
          <p:cNvPr id="24" name="Text Placeholder 4" title="Subtitle">
            <a:extLst>
              <a:ext uri="{FF2B5EF4-FFF2-40B4-BE49-F238E27FC236}">
                <a16:creationId xmlns:a16="http://schemas.microsoft.com/office/drawing/2014/main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</p:spTree>
    <p:extLst>
      <p:ext uri="{BB962C8B-B14F-4D97-AF65-F5344CB8AC3E}">
        <p14:creationId xmlns:p14="http://schemas.microsoft.com/office/powerpoint/2010/main" val="3256540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4F49194-9068-41AA-B460-962319BF96A4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806E656-313A-47B1-B381-D004200F7A01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9" name="Diagonal Stripe 28">
              <a:extLst>
                <a:ext uri="{FF2B5EF4-FFF2-40B4-BE49-F238E27FC236}">
                  <a16:creationId xmlns:a16="http://schemas.microsoft.com/office/drawing/2014/main" id="{65F8E2DA-4BB4-4421-9172-A11AF38DFEF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EDB47F2-B6A7-40B4-8A2C-06719F75C08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188E7A9-2351-4B68-98B8-10099CB39CD2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F088C182-BF10-45B2-B159-7702E00D31D4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34" name="Text Placeholder 4" title="Subtitle">
            <a:extLst>
              <a:ext uri="{FF2B5EF4-FFF2-40B4-BE49-F238E27FC236}">
                <a16:creationId xmlns:a16="http://schemas.microsoft.com/office/drawing/2014/main" id="{FB561B16-2788-452A-B7AF-A482256DC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990C03-1647-2044-B335-6F5F19E4E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03A7CC-E6DC-1544-BE55-15EC1718B7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1" title="Title ">
            <a:extLst>
              <a:ext uri="{FF2B5EF4-FFF2-40B4-BE49-F238E27FC236}">
                <a16:creationId xmlns:a16="http://schemas.microsoft.com/office/drawing/2014/main" id="{BDEC780E-6412-1344-A62E-6B84E9CCB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82AC85-33B6-2B49-8BF4-084144443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Text here</a:t>
            </a:r>
          </a:p>
        </p:txBody>
      </p:sp>
      <p:sp>
        <p:nvSpPr>
          <p:cNvPr id="20" name="Chart Placeholder 2" title="Chart">
            <a:extLst>
              <a:ext uri="{FF2B5EF4-FFF2-40B4-BE49-F238E27FC236}">
                <a16:creationId xmlns:a16="http://schemas.microsoft.com/office/drawing/2014/main" id="{0EF0FD2A-B62A-4931-846D-2602DED2660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796114" y="2005762"/>
            <a:ext cx="5719397" cy="4084470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00477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able Placeholder 11" title="Table">
            <a:extLst>
              <a:ext uri="{FF2B5EF4-FFF2-40B4-BE49-F238E27FC236}">
                <a16:creationId xmlns:a16="http://schemas.microsoft.com/office/drawing/2014/main" id="{7CD3E31F-0AF8-4EB8-B6FA-BD95A2EDA63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31378" y="2664803"/>
            <a:ext cx="10993375" cy="343318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0" indent="0" algn="ctr"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4020D1-D35E-497E-97F1-84A6EA9D048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6C8A74F-FDDF-48E8-AC2B-A5BD59D7D6A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2D5247F3-E6EB-4003-B1FD-F6200F0738E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9B7D995-9FB8-4461-8AAA-FA8B9A145B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849B962F-68BC-4B89-B4D8-D862517534DF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8006416B-866C-47E5-8480-109B40F9EAA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7" name="Text Placeholder 4" title="Subtitle">
            <a:extLst>
              <a:ext uri="{FF2B5EF4-FFF2-40B4-BE49-F238E27FC236}">
                <a16:creationId xmlns:a16="http://schemas.microsoft.com/office/drawing/2014/main" id="{FE79FAE9-2A8C-46BA-8738-44CBCF7294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50A33E-CEFE-4D43-9554-513B01B1D3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960C75-8FA7-5740-9388-2B5112B2C5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1" title="Title ">
            <a:extLst>
              <a:ext uri="{FF2B5EF4-FFF2-40B4-BE49-F238E27FC236}">
                <a16:creationId xmlns:a16="http://schemas.microsoft.com/office/drawing/2014/main" id="{0F525D04-A814-7A4D-9732-11097EA76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</p:spTree>
    <p:extLst>
      <p:ext uri="{BB962C8B-B14F-4D97-AF65-F5344CB8AC3E}">
        <p14:creationId xmlns:p14="http://schemas.microsoft.com/office/powerpoint/2010/main" val="3415060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79ED029D-F488-47E5-B064-0E35B31D23A5}"/>
              </a:ext>
            </a:extLst>
          </p:cNvPr>
          <p:cNvSpPr/>
          <p:nvPr userDrawn="1"/>
        </p:nvSpPr>
        <p:spPr>
          <a:xfrm flipV="1">
            <a:off x="0" y="-5"/>
            <a:ext cx="11747500" cy="629920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Picture Placeholder 31" title="Image">
            <a:extLst>
              <a:ext uri="{FF2B5EF4-FFF2-40B4-BE49-F238E27FC236}">
                <a16:creationId xmlns:a16="http://schemas.microsoft.com/office/drawing/2014/main" id="{D683190A-95C6-428D-AEE4-FC8350C324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8F4957-6DDE-40CE-9D33-00B1434FA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 title="Title ">
            <a:extLst>
              <a:ext uri="{FF2B5EF4-FFF2-40B4-BE49-F238E27FC236}">
                <a16:creationId xmlns:a16="http://schemas.microsoft.com/office/drawing/2014/main" id="{D9A8085F-72C4-4DFB-813E-C5666B0CC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288000" anchor="ctr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Add Caption Here</a:t>
            </a:r>
          </a:p>
        </p:txBody>
      </p:sp>
    </p:spTree>
    <p:extLst>
      <p:ext uri="{BB962C8B-B14F-4D97-AF65-F5344CB8AC3E}">
        <p14:creationId xmlns:p14="http://schemas.microsoft.com/office/powerpoint/2010/main" val="4237576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488AB73-8058-4FB5-9619-FCECCA9F3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Name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59BE165-3EB5-4C11-8B53-6E98C0BC2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Phone Number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9D05293-35AD-495F-A7AE-942398090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Email 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997A03F2-8D8A-4425-9F56-66DB33CE11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Company Website</a:t>
            </a:r>
          </a:p>
        </p:txBody>
      </p:sp>
      <p:sp>
        <p:nvSpPr>
          <p:cNvPr id="14" name="Shape 4157">
            <a:extLst>
              <a:ext uri="{FF2B5EF4-FFF2-40B4-BE49-F238E27FC236}">
                <a16:creationId xmlns:a16="http://schemas.microsoft.com/office/drawing/2014/main" id="{A30A8F28-98F4-425F-A750-78192A157DF4}"/>
              </a:ext>
            </a:extLst>
          </p:cNvPr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15" name="Shape 4186">
            <a:extLst>
              <a:ext uri="{FF2B5EF4-FFF2-40B4-BE49-F238E27FC236}">
                <a16:creationId xmlns:a16="http://schemas.microsoft.com/office/drawing/2014/main" id="{2F84D399-8148-4E86-A1E4-BE7D1D81383A}"/>
              </a:ext>
            </a:extLst>
          </p:cNvPr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19" name="Shape 4379">
            <a:extLst>
              <a:ext uri="{FF2B5EF4-FFF2-40B4-BE49-F238E27FC236}">
                <a16:creationId xmlns:a16="http://schemas.microsoft.com/office/drawing/2014/main" id="{E4408FF8-E342-42F8-BBE9-1220822B5E99}"/>
              </a:ext>
            </a:extLst>
          </p:cNvPr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20" name="Shape 4487">
            <a:extLst>
              <a:ext uri="{FF2B5EF4-FFF2-40B4-BE49-F238E27FC236}">
                <a16:creationId xmlns:a16="http://schemas.microsoft.com/office/drawing/2014/main" id="{11D27456-C005-4109-9E74-0B692200A0B3}"/>
              </a:ext>
            </a:extLst>
          </p:cNvPr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FDDD2B84-3CB9-4567-8C91-C538E8A1C89F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4EF3020-1476-41B1-9FE7-B476A25C5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1B64EC3-B232-415D-8E27-EB3E24D13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261CE2F-F199-4242-AC6C-692676B81FF1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4">
            <a:extLst>
              <a:ext uri="{FF2B5EF4-FFF2-40B4-BE49-F238E27FC236}">
                <a16:creationId xmlns:a16="http://schemas.microsoft.com/office/drawing/2014/main" id="{89C0506D-0CA6-4583-9D04-24E7F4D16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9051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561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0786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1FAE0C34-9220-45F0-9FC2-9FE7C994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8" y="1671924"/>
            <a:ext cx="10835122" cy="450503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3430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17F9213-0142-420B-A84D-C5627A0C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687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014328B-D576-4B5C-A4AE-CF983189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4813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2BFF385-445D-4DBB-9773-F9966941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678" y="1681163"/>
            <a:ext cx="538250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b="1" dirty="0">
                <a:solidFill>
                  <a:schemeClr val="accent6"/>
                </a:solidFill>
              </a:defRPr>
            </a:lvl1pPr>
          </a:lstStyle>
          <a:p>
            <a:pPr marL="228600" lvl="0" indent="-228600"/>
            <a:r>
              <a:rPr lang="en-US" noProof="0"/>
              <a:t>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11B1CFE-1B35-4B5C-B40A-DC5ADF211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1CE840E8-D596-479D-AE97-E88F42DC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A68D25-B19E-4E84-B65D-596EE8382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678" y="2505075"/>
            <a:ext cx="5391749" cy="3684588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2267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9A1E80C-1A76-4D3E-92A1-8468668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316" y="2290713"/>
            <a:ext cx="5803672" cy="4341862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 sz="24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265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22728E0A-430E-4C6A-BF56-06FA8510F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49970" y="2271860"/>
            <a:ext cx="5715017" cy="43607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14302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C52C5C1-EC33-44C1-9D54-A1058BBF1812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A0030CD-8C9E-4AA5-8C5D-F9B2EDB7E17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872EE65E-EE50-4A3E-861E-1D6C241CB8EA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6AD1EF-E06C-4D3C-9693-26844D01C8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57D44C42-44C0-420A-A125-9B1A979D4F56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406089BB-36DC-4E23-B215-527A8A18FCF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8C43A6-50C6-704E-BADC-6D83BADE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91439B-965F-3548-AF77-89501B24F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19906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Diagonal Stripe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33" name="Title 1" title="Title ">
            <a:extLst>
              <a:ext uri="{FF2B5EF4-FFF2-40B4-BE49-F238E27FC236}">
                <a16:creationId xmlns:a16="http://schemas.microsoft.com/office/drawing/2014/main" id="{59067A2C-FE71-4381-BE51-08DAC5E435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8419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CE2EB-00DF-4EBA-BF1F-D37805D45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91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16155-303B-403D-8B49-D4CEE47D6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53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15EF5-4ABE-4759-AC09-679CD6083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971" y="6356350"/>
            <a:ext cx="7402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8699F50C-BE38-4BD0-BA84-9B090E1F2B9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AA2D2B61-D240-024D-AD60-4162EF15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10835122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6488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85" r:id="rId3"/>
    <p:sldLayoutId id="2147483706" r:id="rId4"/>
    <p:sldLayoutId id="2147483708" r:id="rId5"/>
    <p:sldLayoutId id="2147483704" r:id="rId6"/>
    <p:sldLayoutId id="2147483689" r:id="rId7"/>
    <p:sldLayoutId id="2147483668" r:id="rId8"/>
    <p:sldLayoutId id="2147483707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692" r:id="rId17"/>
    <p:sldLayoutId id="2147483697" r:id="rId18"/>
    <p:sldLayoutId id="2147483674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IN"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E7A40"/>
        </a:buClr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IN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title="Building image">
            <a:extLst>
              <a:ext uri="{FF2B5EF4-FFF2-40B4-BE49-F238E27FC236}">
                <a16:creationId xmlns:a16="http://schemas.microsoft.com/office/drawing/2014/main" id="{257F6BCE-75BB-4ECD-BEA5-21C36A9CC0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0784" r="20784"/>
          <a:stretch>
            <a:fillRect/>
          </a:stretch>
        </p:blipFill>
        <p:spPr/>
      </p:pic>
      <p:sp>
        <p:nvSpPr>
          <p:cNvPr id="18" name="Hexagon 17" descr="Solid dark colored hexagon in the middle of image accent">
            <a:extLst>
              <a:ext uri="{FF2B5EF4-FFF2-40B4-BE49-F238E27FC236}">
                <a16:creationId xmlns:a16="http://schemas.microsoft.com/office/drawing/2014/main" id="{0E6B042D-E9CB-40E0-AAE9-6AD11F53E044}"/>
              </a:ext>
            </a:extLst>
          </p:cNvPr>
          <p:cNvSpPr/>
          <p:nvPr/>
        </p:nvSpPr>
        <p:spPr>
          <a:xfrm rot="16200000">
            <a:off x="2871536" y="2197079"/>
            <a:ext cx="2412998" cy="2463841"/>
          </a:xfrm>
          <a:prstGeom prst="hexagon">
            <a:avLst/>
          </a:prstGeom>
          <a:solidFill>
            <a:srgbClr val="001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" name="Group 18" descr="Company name and logo group of information&#10;">
            <a:extLst>
              <a:ext uri="{FF2B5EF4-FFF2-40B4-BE49-F238E27FC236}">
                <a16:creationId xmlns:a16="http://schemas.microsoft.com/office/drawing/2014/main" id="{5B07AEC6-55AE-4E18-BEEA-A226E87C7897}"/>
              </a:ext>
            </a:extLst>
          </p:cNvPr>
          <p:cNvGrpSpPr/>
          <p:nvPr/>
        </p:nvGrpSpPr>
        <p:grpSpPr>
          <a:xfrm>
            <a:off x="2955850" y="2855631"/>
            <a:ext cx="2354106" cy="1118752"/>
            <a:chOff x="2955850" y="2902286"/>
            <a:chExt cx="2354106" cy="111875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4DF2E04-7632-4FED-B0BF-8FB243D982A3}"/>
                </a:ext>
              </a:extLst>
            </p:cNvPr>
            <p:cNvSpPr txBox="1"/>
            <p:nvPr/>
          </p:nvSpPr>
          <p:spPr>
            <a:xfrm>
              <a:off x="3238428" y="2902286"/>
              <a:ext cx="155074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MK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C9A1C71-347B-44A9-88B4-692D9731582D}"/>
                </a:ext>
              </a:extLst>
            </p:cNvPr>
            <p:cNvSpPr txBox="1"/>
            <p:nvPr/>
          </p:nvSpPr>
          <p:spPr>
            <a:xfrm>
              <a:off x="2955850" y="3713261"/>
              <a:ext cx="23541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cs typeface="Calibri Light" panose="020F0302020204030204" pitchFamily="34" charset="0"/>
                </a:rPr>
                <a:t>DATA WAREHOUSE SOLUTION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638ACE-163E-40EB-A458-E794C67EA2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Big Data Technology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205DF-8F5E-49F7-B00E-6F58293F51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Presenter:</a:t>
            </a:r>
          </a:p>
          <a:p>
            <a:pPr marL="342900" indent="-342900">
              <a:buFontTx/>
              <a:buChar char="-"/>
            </a:pPr>
            <a:r>
              <a:rPr lang="en-US" dirty="0"/>
              <a:t>Hai Nguyen</a:t>
            </a:r>
          </a:p>
          <a:p>
            <a:pPr marL="342900" indent="-342900">
              <a:buFontTx/>
              <a:buChar char="-"/>
            </a:pPr>
            <a:r>
              <a:rPr lang="en-US" dirty="0" err="1"/>
              <a:t>Nghia</a:t>
            </a:r>
            <a:r>
              <a:rPr lang="en-US" dirty="0"/>
              <a:t> Nguyen</a:t>
            </a:r>
          </a:p>
        </p:txBody>
      </p:sp>
    </p:spTree>
    <p:extLst>
      <p:ext uri="{BB962C8B-B14F-4D97-AF65-F5344CB8AC3E}">
        <p14:creationId xmlns:p14="http://schemas.microsoft.com/office/powerpoint/2010/main" val="3980699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title="Building image">
            <a:extLst>
              <a:ext uri="{FF2B5EF4-FFF2-40B4-BE49-F238E27FC236}">
                <a16:creationId xmlns:a16="http://schemas.microsoft.com/office/drawing/2014/main" id="{2D599535-C841-457B-BE92-EECA801ED76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784" r="20784"/>
          <a:stretch>
            <a:fillRect/>
          </a:stretch>
        </p:blipFill>
        <p:spPr/>
      </p:pic>
      <p:sp>
        <p:nvSpPr>
          <p:cNvPr id="10" name="Hexagon 9" descr="Solid dark colored hexagon in the middle of image accent">
            <a:extLst>
              <a:ext uri="{FF2B5EF4-FFF2-40B4-BE49-F238E27FC236}">
                <a16:creationId xmlns:a16="http://schemas.microsoft.com/office/drawing/2014/main" id="{84367257-921F-4C31-9DD7-8B0616248FDF}"/>
              </a:ext>
            </a:extLst>
          </p:cNvPr>
          <p:cNvSpPr/>
          <p:nvPr/>
        </p:nvSpPr>
        <p:spPr>
          <a:xfrm rot="16200000">
            <a:off x="2679702" y="2388914"/>
            <a:ext cx="2412998" cy="2080172"/>
          </a:xfrm>
          <a:prstGeom prst="hexag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 descr="Company initials and name grouped block">
            <a:extLst>
              <a:ext uri="{FF2B5EF4-FFF2-40B4-BE49-F238E27FC236}">
                <a16:creationId xmlns:a16="http://schemas.microsoft.com/office/drawing/2014/main" id="{91C1EA1C-1F3E-4109-905A-96F1DC0515BC}"/>
              </a:ext>
            </a:extLst>
          </p:cNvPr>
          <p:cNvGrpSpPr/>
          <p:nvPr/>
        </p:nvGrpSpPr>
        <p:grpSpPr>
          <a:xfrm>
            <a:off x="2955850" y="2855631"/>
            <a:ext cx="1881541" cy="1118752"/>
            <a:chOff x="2955850" y="2902286"/>
            <a:chExt cx="1881541" cy="111875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835BE9C-E4C1-41B7-ACD8-7ABEC8DF5F24}"/>
                </a:ext>
              </a:extLst>
            </p:cNvPr>
            <p:cNvSpPr txBox="1"/>
            <p:nvPr/>
          </p:nvSpPr>
          <p:spPr>
            <a:xfrm>
              <a:off x="3238428" y="2902286"/>
              <a:ext cx="129554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b="1" dirty="0">
                  <a:latin typeface="Arial Black" panose="020B0A04020102020204" pitchFamily="34" charset="0"/>
                </a:rPr>
                <a:t>FR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4052DBB-CC72-4F59-92CE-00AB25EFF3F6}"/>
                </a:ext>
              </a:extLst>
            </p:cNvPr>
            <p:cNvSpPr txBox="1"/>
            <p:nvPr/>
          </p:nvSpPr>
          <p:spPr>
            <a:xfrm>
              <a:off x="2955850" y="3713261"/>
              <a:ext cx="18815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cs typeface="Calibri Light" panose="020F0302020204030204" pitchFamily="34" charset="0"/>
                </a:rPr>
                <a:t>FABRIKAM RESIDENCES</a:t>
              </a: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291CA16A-993E-43BA-BDDC-9E427CF95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</a:t>
            </a:r>
            <a:r>
              <a:rPr lang="en-US" b="0" dirty="0">
                <a:latin typeface="Calibri Light" panose="020F0302020204030204" pitchFamily="34" charset="0"/>
              </a:rPr>
              <a:t>Divider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63A021-7C19-4C85-B48B-EFEA732C1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292661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BE11BF-33A5-4653-A144-CCCBACF5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388" y="389360"/>
            <a:ext cx="7342622" cy="1215566"/>
          </a:xfrm>
        </p:spPr>
        <p:txBody>
          <a:bodyPr/>
          <a:lstStyle/>
          <a:p>
            <a:r>
              <a:rPr lang="en-US" dirty="0"/>
              <a:t>About </a:t>
            </a:r>
            <a:r>
              <a:rPr lang="en-US" b="0" dirty="0"/>
              <a:t>Us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3469036-D1FB-4164-96AE-B6D8CECCFC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1378" y="1806086"/>
            <a:ext cx="7342631" cy="608895"/>
          </a:xfrm>
        </p:spPr>
        <p:txBody>
          <a:bodyPr/>
          <a:lstStyle/>
          <a:p>
            <a:r>
              <a:rPr lang="en-US" dirty="0"/>
              <a:t>BIG DATA PROCESSING ENGINE FOR E-COMMERCE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82DBEC-EE72-4155-ACC5-87E80C560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2286001"/>
            <a:ext cx="6555222" cy="386919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Give the insight data for the buyer in seconds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No down time</a:t>
            </a:r>
          </a:p>
        </p:txBody>
      </p:sp>
      <p:pic>
        <p:nvPicPr>
          <p:cNvPr id="13" name="Picture Placeholder 12" title="Skyline">
            <a:extLst>
              <a:ext uri="{FF2B5EF4-FFF2-40B4-BE49-F238E27FC236}">
                <a16:creationId xmlns:a16="http://schemas.microsoft.com/office/drawing/2014/main" id="{066FE296-3466-420F-AD6C-D3A37B973B7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23313" r="23313"/>
          <a:stretch/>
        </p:blipFill>
        <p:spPr/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7F4D2C2-B71A-4089-A3FE-603C32706CA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1BB58-7555-4382-B178-7ED04E137E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005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3">
            <a:extLst>
              <a:ext uri="{FF2B5EF4-FFF2-40B4-BE49-F238E27FC236}">
                <a16:creationId xmlns:a16="http://schemas.microsoft.com/office/drawing/2014/main" id="{1ABD613F-111C-41D6-9F8E-8B2C42A5E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US" b="0" dirty="0"/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EA7C22CB-613A-4C0B-90B3-4A405F793D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LOREM IPSUM DOLOR SIT AMET</a:t>
            </a:r>
          </a:p>
        </p:txBody>
      </p:sp>
      <p:sp>
        <p:nvSpPr>
          <p:cNvPr id="42" name="Content Placeholder 6">
            <a:extLst>
              <a:ext uri="{FF2B5EF4-FFF2-40B4-BE49-F238E27FC236}">
                <a16:creationId xmlns:a16="http://schemas.microsoft.com/office/drawing/2014/main" id="{55EACD59-7C51-4810-94C6-BCB4D1234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96915"/>
            <a:ext cx="10921482" cy="295827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Lorem ipsum dolor sit amet, consectetur adipiscing elit. </a:t>
            </a:r>
          </a:p>
          <a:p>
            <a:pPr lvl="0"/>
            <a:r>
              <a:rPr lang="en-US" dirty="0"/>
              <a:t>Ut fermentum a magna ut eleifend. Integer convallis suscipit ante eu varius. </a:t>
            </a:r>
          </a:p>
          <a:p>
            <a:pPr lvl="0"/>
            <a:r>
              <a:rPr lang="en-US" dirty="0"/>
              <a:t>Morbi a purus dolor. Suspendisse sit amet ipsum finibus justo viverra blandit. </a:t>
            </a:r>
          </a:p>
          <a:p>
            <a:pPr lvl="0"/>
            <a:r>
              <a:rPr lang="en-US" dirty="0"/>
              <a:t>Ut congue quis tortor eget sodales. </a:t>
            </a:r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6390A22B-EC07-E942-A46F-F36FDD7FDB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67D224-5586-43DC-82CA-8605E15829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466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</a:t>
            </a:r>
            <a:r>
              <a:rPr lang="en-US" b="0" dirty="0"/>
              <a:t>Promise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FE11F38-F66B-4F95-8224-6CCA69D576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LOREM IPSUM DOLOR SIT AMET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4E18385-8BEA-4522-ABAA-5AB38F0D4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Company Name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1DCFA8A2-3FB8-48CA-933D-0800A9D2A2A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US" dirty="0"/>
              <a:t>Nulla a erat eget nunc hendrerit ultrices eu nec nulla. Donec viverra leo aliquet, auctor quam id, convallis orci. </a:t>
            </a:r>
          </a:p>
          <a:p>
            <a:pPr lvl="1">
              <a:buClr>
                <a:schemeClr val="accent2"/>
              </a:buClr>
            </a:pPr>
            <a:r>
              <a:rPr lang="en-US" dirty="0"/>
              <a:t>Sed in molestie est. Cras ornare turpis at ligula posuere, sit amet accumsan neque lobortis.</a:t>
            </a:r>
          </a:p>
          <a:p>
            <a:pPr lvl="1">
              <a:buClr>
                <a:schemeClr val="accent2"/>
              </a:buClr>
            </a:pPr>
            <a:r>
              <a:rPr lang="en-US" dirty="0"/>
              <a:t>Maecenas mattis risus ligula, sed ullamcorper nunc efficitur sed.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40A3223-3DA3-4CF2-82B6-1447667547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Competitive Service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955AFB3-173C-4848-B3E9-1375591B297E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US" dirty="0"/>
              <a:t>Nulla a erat eget nunc hendrerit ultrices eu nec nulla. Donec viverra leo aliquet, auctor quam id, convallis orci. </a:t>
            </a:r>
          </a:p>
          <a:p>
            <a:pPr lvl="1">
              <a:buClr>
                <a:schemeClr val="accent2"/>
              </a:buClr>
            </a:pPr>
            <a:r>
              <a:rPr lang="en-US" dirty="0"/>
              <a:t>Sed in molestie est. Cras ornare turpis at ligula posuere, sit amet accumsan neque lobortis.</a:t>
            </a:r>
          </a:p>
          <a:p>
            <a:pPr lvl="1">
              <a:buClr>
                <a:schemeClr val="accent2"/>
              </a:buClr>
            </a:pPr>
            <a:r>
              <a:rPr lang="en-US" dirty="0"/>
              <a:t>Maecenas mattis risus ligula, sed ullamcorper nunc efficitur sed. 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391D3201-20F9-4DD7-B4EB-F41AF17CA42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n-US" dirty="0"/>
              <a:t>Add a footer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516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3">
            <a:extLst>
              <a:ext uri="{FF2B5EF4-FFF2-40B4-BE49-F238E27FC236}">
                <a16:creationId xmlns:a16="http://schemas.microsoft.com/office/drawing/2014/main" id="{92896B42-4638-40D0-8887-7AB8D1D86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 </a:t>
            </a:r>
            <a:r>
              <a:rPr lang="en-US" b="0" dirty="0"/>
              <a:t>Option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D7CE36F2-C321-46C5-AFD9-00917224D3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LOREM IPSUM DOLOR SIT AMET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7CFD0302-279C-8A48-9E27-AD5B08D6501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>
              <a:buClr>
                <a:schemeClr val="accent2"/>
              </a:buClr>
            </a:pPr>
            <a:r>
              <a:rPr lang="en-US" dirty="0"/>
              <a:t>Lorem ipsum dolor sit amet, consectetur adipiscing elit. </a:t>
            </a:r>
          </a:p>
          <a:p>
            <a:pPr>
              <a:buClr>
                <a:schemeClr val="accent2"/>
              </a:buClr>
            </a:pPr>
            <a:r>
              <a:rPr lang="en-US" dirty="0"/>
              <a:t>Ut fermentum a magna ut eleifend. Integer convallis suscipit ante eu varius. </a:t>
            </a:r>
          </a:p>
          <a:p>
            <a:pPr>
              <a:buClr>
                <a:schemeClr val="accent2"/>
              </a:buClr>
            </a:pPr>
            <a:r>
              <a:rPr lang="en-US" dirty="0"/>
              <a:t>Morbi a purus dolor. Suspendisse sit amet ipsum finibus justo viverra blandit. </a:t>
            </a:r>
          </a:p>
          <a:p>
            <a:pPr>
              <a:buClr>
                <a:schemeClr val="accent2"/>
              </a:buClr>
            </a:pPr>
            <a:r>
              <a:rPr lang="en-US" dirty="0"/>
              <a:t>Ut congue quis tortor eget sodales.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C11C9-3DF6-471E-87C0-4DCED41031D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28214-87DB-4B3A-BD81-9A709A69BAA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42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6A5A3-91E5-4540-8701-AF42C0EDC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FF922E-572C-498C-82EE-7092C18048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97AAE-69A3-4931-A330-BF373A1D8A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7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EB41E6-71CF-448B-B026-D41ADE5E6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246" y="1817625"/>
            <a:ext cx="2062632" cy="20626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D853A5-2A33-429F-94C0-7DDBB20A3395}"/>
              </a:ext>
            </a:extLst>
          </p:cNvPr>
          <p:cNvSpPr txBox="1"/>
          <p:nvPr/>
        </p:nvSpPr>
        <p:spPr>
          <a:xfrm>
            <a:off x="1366246" y="3900687"/>
            <a:ext cx="1837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E-commerce, Mortgage, ERP …</a:t>
            </a:r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DB8986E-4EAC-4C8C-8A8A-539690F11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127" y="2348271"/>
            <a:ext cx="942857" cy="514286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00AE79D9-6DFD-4F2A-B9E0-345302288F73}"/>
              </a:ext>
            </a:extLst>
          </p:cNvPr>
          <p:cNvSpPr/>
          <p:nvPr/>
        </p:nvSpPr>
        <p:spPr>
          <a:xfrm>
            <a:off x="3644351" y="2504657"/>
            <a:ext cx="621676" cy="2385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F65357-154E-476B-820D-451545E06746}"/>
              </a:ext>
            </a:extLst>
          </p:cNvPr>
          <p:cNvSpPr txBox="1"/>
          <p:nvPr/>
        </p:nvSpPr>
        <p:spPr>
          <a:xfrm>
            <a:off x="4174437" y="3008239"/>
            <a:ext cx="17227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Message Queue</a:t>
            </a:r>
          </a:p>
          <a:p>
            <a:r>
              <a:rPr lang="en-US" dirty="0"/>
              <a:t>(Kafka, RabbitMQ …)</a:t>
            </a:r>
            <a:endParaRPr lang="en-GB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3FE2262-81B5-46F6-8E42-BE215CDEF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146" y="1184792"/>
            <a:ext cx="1425286" cy="2825257"/>
          </a:xfrm>
          <a:prstGeom prst="rect">
            <a:avLst/>
          </a:prstGeom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D51749D4-BE40-407F-AE85-F032ABE3FFC4}"/>
              </a:ext>
            </a:extLst>
          </p:cNvPr>
          <p:cNvSpPr/>
          <p:nvPr/>
        </p:nvSpPr>
        <p:spPr>
          <a:xfrm>
            <a:off x="5534727" y="2486144"/>
            <a:ext cx="621676" cy="2385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0FFAA6-4082-4597-8BFB-9B97200CE3B5}"/>
              </a:ext>
            </a:extLst>
          </p:cNvPr>
          <p:cNvSpPr txBox="1"/>
          <p:nvPr/>
        </p:nvSpPr>
        <p:spPr>
          <a:xfrm>
            <a:off x="6222844" y="2978067"/>
            <a:ext cx="190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Stream processing</a:t>
            </a:r>
          </a:p>
          <a:p>
            <a:r>
              <a:rPr lang="en-US" dirty="0"/>
              <a:t>(Spark, KSQL)</a:t>
            </a:r>
            <a:endParaRPr lang="en-GB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768EF73-DCFA-4688-BEE0-91424E8478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664" y="1533985"/>
            <a:ext cx="1780952" cy="2657143"/>
          </a:xfrm>
          <a:prstGeom prst="rect">
            <a:avLst/>
          </a:prstGeom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6A12C577-FF75-47E4-8B96-818CC6DAD7C7}"/>
              </a:ext>
            </a:extLst>
          </p:cNvPr>
          <p:cNvSpPr/>
          <p:nvPr/>
        </p:nvSpPr>
        <p:spPr>
          <a:xfrm>
            <a:off x="7934710" y="2478152"/>
            <a:ext cx="621676" cy="2385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38A6CB5-D115-48F8-86DF-22B0FE6E0C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5886" y="4129086"/>
            <a:ext cx="2029746" cy="2029746"/>
          </a:xfrm>
          <a:prstGeom prst="rect">
            <a:avLst/>
          </a:prstGeom>
        </p:spPr>
      </p:pic>
      <p:sp>
        <p:nvSpPr>
          <p:cNvPr id="29" name="Arrow: Right 28">
            <a:extLst>
              <a:ext uri="{FF2B5EF4-FFF2-40B4-BE49-F238E27FC236}">
                <a16:creationId xmlns:a16="http://schemas.microsoft.com/office/drawing/2014/main" id="{C15075FE-E32A-42A6-8FEF-5900E848D0A0}"/>
              </a:ext>
            </a:extLst>
          </p:cNvPr>
          <p:cNvSpPr/>
          <p:nvPr/>
        </p:nvSpPr>
        <p:spPr>
          <a:xfrm rot="19873151" flipH="1">
            <a:off x="7119759" y="4194018"/>
            <a:ext cx="1607720" cy="2746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23BE11-1AFB-4AC0-A51C-3E3F1C6474FF}"/>
              </a:ext>
            </a:extLst>
          </p:cNvPr>
          <p:cNvSpPr txBox="1"/>
          <p:nvPr/>
        </p:nvSpPr>
        <p:spPr>
          <a:xfrm>
            <a:off x="4845611" y="6173879"/>
            <a:ext cx="3340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visualization: Zeppelin,</a:t>
            </a:r>
            <a:r>
              <a:rPr lang="fr-FR" dirty="0"/>
              <a:t> Tableau, </a:t>
            </a:r>
            <a:r>
              <a:rPr lang="fr-FR" dirty="0" err="1"/>
              <a:t>Jupyter</a:t>
            </a:r>
            <a:r>
              <a:rPr lang="fr-FR" dirty="0"/>
              <a:t>, </a:t>
            </a:r>
            <a:r>
              <a:rPr lang="fr-FR" dirty="0" err="1"/>
              <a:t>Plotly</a:t>
            </a:r>
            <a:r>
              <a:rPr lang="fr-FR" dirty="0"/>
              <a:t>, </a:t>
            </a:r>
            <a:r>
              <a:rPr lang="fr-FR" dirty="0" err="1"/>
              <a:t>Kibana</a:t>
            </a:r>
            <a:r>
              <a:rPr lang="fr-FR" dirty="0"/>
              <a:t> …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5B1665-32F3-4CB8-A0D8-4E9E08668BE3}"/>
              </a:ext>
            </a:extLst>
          </p:cNvPr>
          <p:cNvSpPr txBox="1"/>
          <p:nvPr/>
        </p:nvSpPr>
        <p:spPr>
          <a:xfrm>
            <a:off x="8874934" y="1632959"/>
            <a:ext cx="2150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Storages</a:t>
            </a:r>
            <a:endParaRPr lang="en-GB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7C10009-6898-461F-B017-74B61000D8E7}"/>
              </a:ext>
            </a:extLst>
          </p:cNvPr>
          <p:cNvGrpSpPr/>
          <p:nvPr/>
        </p:nvGrpSpPr>
        <p:grpSpPr>
          <a:xfrm>
            <a:off x="3352803" y="1127367"/>
            <a:ext cx="4382631" cy="1682569"/>
            <a:chOff x="3352803" y="1127367"/>
            <a:chExt cx="4382631" cy="1682569"/>
          </a:xfrm>
        </p:grpSpPr>
        <p:sp>
          <p:nvSpPr>
            <p:cNvPr id="5" name="Arrow: Curved Right 4">
              <a:extLst>
                <a:ext uri="{FF2B5EF4-FFF2-40B4-BE49-F238E27FC236}">
                  <a16:creationId xmlns:a16="http://schemas.microsoft.com/office/drawing/2014/main" id="{722C227B-31FD-4343-BCDB-E7DF3BE91453}"/>
                </a:ext>
              </a:extLst>
            </p:cNvPr>
            <p:cNvSpPr/>
            <p:nvPr/>
          </p:nvSpPr>
          <p:spPr>
            <a:xfrm rot="16200000" flipH="1">
              <a:off x="5325881" y="-484808"/>
              <a:ext cx="436476" cy="4382631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8" name="Multiplication Sign 7">
              <a:extLst>
                <a:ext uri="{FF2B5EF4-FFF2-40B4-BE49-F238E27FC236}">
                  <a16:creationId xmlns:a16="http://schemas.microsoft.com/office/drawing/2014/main" id="{3C4692B8-AE94-40FD-BC70-CA01173C76CB}"/>
                </a:ext>
              </a:extLst>
            </p:cNvPr>
            <p:cNvSpPr/>
            <p:nvPr/>
          </p:nvSpPr>
          <p:spPr>
            <a:xfrm flipV="1">
              <a:off x="5126483" y="1127367"/>
              <a:ext cx="834887" cy="691710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C75B35E-5847-4801-9401-90ADBF11428E}"/>
                </a:ext>
              </a:extLst>
            </p:cNvPr>
            <p:cNvSpPr/>
            <p:nvPr/>
          </p:nvSpPr>
          <p:spPr>
            <a:xfrm>
              <a:off x="3661460" y="1886606"/>
              <a:ext cx="50526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22225">
                    <a:solidFill>
                      <a:schemeClr val="accent2"/>
                    </a:solidFill>
                    <a:prstDash val="solid"/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effectLst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012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EDE62-37BA-48FA-A7B4-30BE167BF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7" y="225778"/>
            <a:ext cx="11029855" cy="1198816"/>
          </a:xfrm>
        </p:spPr>
        <p:txBody>
          <a:bodyPr>
            <a:normAutofit fontScale="90000"/>
          </a:bodyPr>
          <a:lstStyle/>
          <a:p>
            <a:r>
              <a:rPr lang="en-GB" b="0" dirty="0"/>
              <a:t>Command Query Responsibility Segregation (CQRS)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1929BD-0C32-41A8-B413-7129C3E074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7330C-8082-46F4-82F7-540BB99036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8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698F06-F7FF-47D6-9204-247DF62E7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45" y="1827742"/>
            <a:ext cx="8794044" cy="424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98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27775B5-E47C-44B6-A0BB-19CEBECD7D43}"/>
              </a:ext>
            </a:extLst>
          </p:cNvPr>
          <p:cNvSpPr/>
          <p:nvPr/>
        </p:nvSpPr>
        <p:spPr>
          <a:xfrm>
            <a:off x="714375" y="1800225"/>
            <a:ext cx="10858500" cy="4243388"/>
          </a:xfrm>
          <a:prstGeom prst="rect">
            <a:avLst/>
          </a:prstGeom>
          <a:blipFill dpi="0" rotWithShape="1">
            <a:blip r:embed="rId2">
              <a:alphaModFix amt="36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8603B0-C771-45BF-A1B4-EAE4D0917BDA}"/>
              </a:ext>
            </a:extLst>
          </p:cNvPr>
          <p:cNvSpPr/>
          <p:nvPr/>
        </p:nvSpPr>
        <p:spPr>
          <a:xfrm>
            <a:off x="3892423" y="2255425"/>
            <a:ext cx="1705378" cy="2704272"/>
          </a:xfrm>
          <a:prstGeom prst="rect">
            <a:avLst/>
          </a:prstGeom>
          <a:solidFill>
            <a:schemeClr val="bg1"/>
          </a:solidFill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E098CB-2AD7-4541-BC90-8FCF56060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with MQ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CB0A2C-4D94-B041-89D6-8322F8E87E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F5695-E14A-294F-85B4-1AF9CA76A1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9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9E0209-AFCC-4C6F-B0DB-ACC8040D5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554" y="2500576"/>
            <a:ext cx="2062632" cy="206263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48CF8-490A-4F6F-AEEB-333E066EF6EE}"/>
              </a:ext>
            </a:extLst>
          </p:cNvPr>
          <p:cNvSpPr txBox="1"/>
          <p:nvPr/>
        </p:nvSpPr>
        <p:spPr>
          <a:xfrm>
            <a:off x="1001554" y="4580920"/>
            <a:ext cx="231148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E-commerce simulator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A6A236-5947-4B16-878B-E3960D5E5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5308" y="2590461"/>
            <a:ext cx="942857" cy="5142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0EFFD2-721A-44F2-957C-78E06433E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5307" y="3845342"/>
            <a:ext cx="942857" cy="5142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A1A5E4-0E61-4FDA-B6EC-160561CB9AE0}"/>
              </a:ext>
            </a:extLst>
          </p:cNvPr>
          <p:cNvSpPr txBox="1"/>
          <p:nvPr/>
        </p:nvSpPr>
        <p:spPr>
          <a:xfrm>
            <a:off x="4225307" y="3104747"/>
            <a:ext cx="1146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 topic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E861D4-835E-4EAA-9AF5-AE7604712922}"/>
              </a:ext>
            </a:extLst>
          </p:cNvPr>
          <p:cNvSpPr txBox="1"/>
          <p:nvPr/>
        </p:nvSpPr>
        <p:spPr>
          <a:xfrm>
            <a:off x="3977136" y="4361559"/>
            <a:ext cx="1510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shipping topic</a:t>
            </a:r>
            <a:endParaRPr lang="en-GB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5F49183-8157-4067-ADD2-07C12A46263C}"/>
              </a:ext>
            </a:extLst>
          </p:cNvPr>
          <p:cNvSpPr/>
          <p:nvPr/>
        </p:nvSpPr>
        <p:spPr>
          <a:xfrm rot="20267801">
            <a:off x="3167923" y="3069359"/>
            <a:ext cx="621676" cy="2385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C8FBF0A-7C4E-4D4B-A4CD-11060484600E}"/>
              </a:ext>
            </a:extLst>
          </p:cNvPr>
          <p:cNvSpPr/>
          <p:nvPr/>
        </p:nvSpPr>
        <p:spPr>
          <a:xfrm rot="1175293">
            <a:off x="3151934" y="3748563"/>
            <a:ext cx="621676" cy="2385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C10ACC-DAD7-41E2-992A-E1EBD74EB4BD}"/>
              </a:ext>
            </a:extLst>
          </p:cNvPr>
          <p:cNvSpPr txBox="1"/>
          <p:nvPr/>
        </p:nvSpPr>
        <p:spPr>
          <a:xfrm>
            <a:off x="3892423" y="5017038"/>
            <a:ext cx="170537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Kafka</a:t>
            </a:r>
            <a:endParaRPr lang="en-GB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0FEF06F2-4833-44BD-ACD5-51B6672BC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6837" y="2255425"/>
            <a:ext cx="4829207" cy="29084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rgbClr val="00008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b="1" dirty="0">
              <a:solidFill>
                <a:srgbClr val="0000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rgbClr val="00008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b="1" dirty="0">
              <a:solidFill>
                <a:srgbClr val="0000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(!shutdown)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cart 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CartDB.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randomCart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timeRange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streamer.sendCart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(cart, …………)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shipping 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ShippingDB.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randomShipping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(cart)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streamer.sendShipping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(shipping, ………)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// keep doing other job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969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AEC4-81A4-4879-8ACD-9F65561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Introduction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BF8D76-94E6-4ED6-BC4A-7BB1942D47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8003A-B166-437F-853C-CBB579481F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10</a:t>
            </a:fld>
            <a:endParaRPr lang="en-US" noProof="0" dirty="0"/>
          </a:p>
        </p:txBody>
      </p:sp>
      <p:pic>
        <p:nvPicPr>
          <p:cNvPr id="1028" name="Picture 4" descr="Kafka Architecture Source - ClloudFront">
            <a:extLst>
              <a:ext uri="{FF2B5EF4-FFF2-40B4-BE49-F238E27FC236}">
                <a16:creationId xmlns:a16="http://schemas.microsoft.com/office/drawing/2014/main" id="{7A88D163-9AC3-4640-A8C0-2A940C17C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866" y="1393435"/>
            <a:ext cx="9483278" cy="4962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88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AEC4-81A4-4879-8ACD-9F65561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Introduction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BF8D76-94E6-4ED6-BC4A-7BB1942D47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8003A-B166-437F-853C-CBB579481F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11</a:t>
            </a:fld>
            <a:endParaRPr lang="en-US" noProof="0" dirty="0"/>
          </a:p>
        </p:txBody>
      </p:sp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38519D44-9207-4222-A91A-0A95944F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05" y="1424594"/>
            <a:ext cx="7308850" cy="4741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83B51F-9E8E-4B07-81EB-C6F738E9EAC6}"/>
              </a:ext>
            </a:extLst>
          </p:cNvPr>
          <p:cNvSpPr/>
          <p:nvPr/>
        </p:nvSpPr>
        <p:spPr>
          <a:xfrm>
            <a:off x="5012267" y="1693333"/>
            <a:ext cx="824089" cy="44725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37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Image result for apache zeppelin diagram">
            <a:extLst>
              <a:ext uri="{FF2B5EF4-FFF2-40B4-BE49-F238E27FC236}">
                <a16:creationId xmlns:a16="http://schemas.microsoft.com/office/drawing/2014/main" id="{4A996081-63EA-41A9-A0FB-AECD5CB99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733" y="1928521"/>
            <a:ext cx="8613423" cy="4897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EC6A10-4223-49FE-A681-A810F046B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Zeppelin Introduction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C3BE72-C201-4F14-91E5-3EF9A54806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B4956-4A43-401A-B29E-1F11CB2695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12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EC8827-EE10-4568-BEAB-39FB60570067}"/>
              </a:ext>
            </a:extLst>
          </p:cNvPr>
          <p:cNvSpPr txBox="1"/>
          <p:nvPr/>
        </p:nvSpPr>
        <p:spPr>
          <a:xfrm>
            <a:off x="1337733" y="2590142"/>
            <a:ext cx="1805517" cy="646331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Code section</a:t>
            </a:r>
          </a:p>
          <a:p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719F2-853B-4203-8CD9-21F2C3101121}"/>
              </a:ext>
            </a:extLst>
          </p:cNvPr>
          <p:cNvSpPr txBox="1"/>
          <p:nvPr/>
        </p:nvSpPr>
        <p:spPr>
          <a:xfrm>
            <a:off x="6951447" y="3494028"/>
            <a:ext cx="287112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Report section</a:t>
            </a:r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549812-DDAC-4A1C-B6B1-0A3536B0E0C5}"/>
              </a:ext>
            </a:extLst>
          </p:cNvPr>
          <p:cNvSpPr txBox="1"/>
          <p:nvPr/>
        </p:nvSpPr>
        <p:spPr>
          <a:xfrm>
            <a:off x="8121473" y="2590142"/>
            <a:ext cx="2022651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Commands</a:t>
            </a:r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517EB6-3976-4564-B2C1-A362D85F3859}"/>
              </a:ext>
            </a:extLst>
          </p:cNvPr>
          <p:cNvSpPr txBox="1"/>
          <p:nvPr/>
        </p:nvSpPr>
        <p:spPr>
          <a:xfrm>
            <a:off x="1337733" y="1469205"/>
            <a:ext cx="5391680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0B050"/>
                </a:solidFill>
              </a:rPr>
              <a:t>Web-based UI (localhost:8080 by default)</a:t>
            </a:r>
            <a:endParaRPr lang="en-GB" sz="2200" dirty="0">
              <a:solidFill>
                <a:srgbClr val="00B05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05A4F3-8657-49D6-863A-BAE1BEA58E68}"/>
              </a:ext>
            </a:extLst>
          </p:cNvPr>
          <p:cNvSpPr/>
          <p:nvPr/>
        </p:nvSpPr>
        <p:spPr>
          <a:xfrm>
            <a:off x="6951447" y="3494028"/>
            <a:ext cx="2999709" cy="29924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BFF70947-F17A-40A5-9202-7AA029D97F36}"/>
              </a:ext>
            </a:extLst>
          </p:cNvPr>
          <p:cNvSpPr/>
          <p:nvPr/>
        </p:nvSpPr>
        <p:spPr>
          <a:xfrm flipH="1">
            <a:off x="10215559" y="2243138"/>
            <a:ext cx="431345" cy="424338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1CABD6-B6A0-46C8-A138-08B5BE9BD0CB}"/>
              </a:ext>
            </a:extLst>
          </p:cNvPr>
          <p:cNvSpPr txBox="1"/>
          <p:nvPr/>
        </p:nvSpPr>
        <p:spPr>
          <a:xfrm>
            <a:off x="10646904" y="4041665"/>
            <a:ext cx="1285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Multiple paragraphs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9063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19FB1-2F8A-41CE-8DEB-420F32353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Zeppelin Introduction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FCB91-585D-47C5-BF01-4FBFD655AE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35D18-F9DA-4ACC-8445-917136AD45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13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446797-B55D-40FC-AA32-994340126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424594"/>
            <a:ext cx="8861778" cy="498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223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6" title="Building image">
            <a:extLst>
              <a:ext uri="{FF2B5EF4-FFF2-40B4-BE49-F238E27FC236}">
                <a16:creationId xmlns:a16="http://schemas.microsoft.com/office/drawing/2014/main" id="{BA026684-ED32-4C82-8EFB-03E9E047EA3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0784" r="20784"/>
          <a:stretch>
            <a:fillRect/>
          </a:stretch>
        </p:blipFill>
        <p:spPr>
          <a:xfrm>
            <a:off x="1671939" y="868729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</p:pic>
      <p:sp>
        <p:nvSpPr>
          <p:cNvPr id="19" name="Hexagon 18" descr="Solid dark colored hexagon in the middle of image accent">
            <a:extLst>
              <a:ext uri="{FF2B5EF4-FFF2-40B4-BE49-F238E27FC236}">
                <a16:creationId xmlns:a16="http://schemas.microsoft.com/office/drawing/2014/main" id="{7CE8B54A-D8B2-498F-ACFB-31AC2DEB83FA}"/>
              </a:ext>
            </a:extLst>
          </p:cNvPr>
          <p:cNvSpPr/>
          <p:nvPr/>
        </p:nvSpPr>
        <p:spPr>
          <a:xfrm rot="16200000">
            <a:off x="2679702" y="2388914"/>
            <a:ext cx="2412998" cy="2080172"/>
          </a:xfrm>
          <a:prstGeom prst="hexagon">
            <a:avLst/>
          </a:prstGeom>
          <a:solidFill>
            <a:srgbClr val="001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 descr="Company initials and name in grouped text">
            <a:extLst>
              <a:ext uri="{FF2B5EF4-FFF2-40B4-BE49-F238E27FC236}">
                <a16:creationId xmlns:a16="http://schemas.microsoft.com/office/drawing/2014/main" id="{82C4EAC6-3E04-4614-86BA-A23C851754D9}"/>
              </a:ext>
            </a:extLst>
          </p:cNvPr>
          <p:cNvGrpSpPr/>
          <p:nvPr/>
        </p:nvGrpSpPr>
        <p:grpSpPr>
          <a:xfrm>
            <a:off x="2955850" y="2855631"/>
            <a:ext cx="1881541" cy="1118752"/>
            <a:chOff x="2955850" y="2902286"/>
            <a:chExt cx="1881541" cy="111875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20626FA-81E3-4C45-BF2D-D52CF6D96238}"/>
                </a:ext>
              </a:extLst>
            </p:cNvPr>
            <p:cNvSpPr txBox="1"/>
            <p:nvPr/>
          </p:nvSpPr>
          <p:spPr>
            <a:xfrm>
              <a:off x="3238428" y="2902286"/>
              <a:ext cx="129554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FR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6E86452-6AEA-4380-9682-AB26317ADB62}"/>
                </a:ext>
              </a:extLst>
            </p:cNvPr>
            <p:cNvSpPr txBox="1"/>
            <p:nvPr/>
          </p:nvSpPr>
          <p:spPr>
            <a:xfrm>
              <a:off x="2955850" y="3713261"/>
              <a:ext cx="18815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cs typeface="Calibri Light" panose="020F0302020204030204" pitchFamily="34" charset="0"/>
                </a:rPr>
                <a:t>FABRIKAM RESIDENCES</a:t>
              </a:r>
            </a:p>
          </p:txBody>
        </p:sp>
      </p:grpSp>
      <p:sp>
        <p:nvSpPr>
          <p:cNvPr id="8" name="Title 7">
            <a:extLst>
              <a:ext uri="{FF2B5EF4-FFF2-40B4-BE49-F238E27FC236}">
                <a16:creationId xmlns:a16="http://schemas.microsoft.com/office/drawing/2014/main" id="{8B6C5EAB-81FF-4827-A160-22F4363C61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</a:t>
            </a:r>
            <a:r>
              <a:rPr lang="en-US" b="0" dirty="0"/>
              <a:t>You.</a:t>
            </a:r>
          </a:p>
        </p:txBody>
      </p:sp>
    </p:spTree>
    <p:extLst>
      <p:ext uri="{BB962C8B-B14F-4D97-AF65-F5344CB8AC3E}">
        <p14:creationId xmlns:p14="http://schemas.microsoft.com/office/powerpoint/2010/main" val="2260955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951641_Hexagon presentation light_AAS_v4" id="{358289A0-A26B-433F-AD2B-1F8832C96153}" vid="{92CDC91D-95BF-4897-87D6-494563DF79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7F4215-C6BB-44A3-9A5E-9446E683590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80A5AF1-8C57-4290-936E-5FD27C9572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8919DE-9BD9-47A9-9F5D-16EBB96879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390</Words>
  <Application>Microsoft Office PowerPoint</Application>
  <PresentationFormat>Widescreen</PresentationFormat>
  <Paragraphs>93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Courier New</vt:lpstr>
      <vt:lpstr>Gill Sans SemiBold</vt:lpstr>
      <vt:lpstr>Times New Roman</vt:lpstr>
      <vt:lpstr>Office Theme</vt:lpstr>
      <vt:lpstr>Big Data Technology</vt:lpstr>
      <vt:lpstr>Section Divider </vt:lpstr>
      <vt:lpstr>About Us</vt:lpstr>
      <vt:lpstr>Demo</vt:lpstr>
      <vt:lpstr>Our Promise</vt:lpstr>
      <vt:lpstr>Chart Option</vt:lpstr>
      <vt:lpstr>Data flow</vt:lpstr>
      <vt:lpstr>Command Query Responsibility Segregation (CQRS)</vt:lpstr>
      <vt:lpstr>Asynchronous with MQ</vt:lpstr>
      <vt:lpstr>Kafka Introduction</vt:lpstr>
      <vt:lpstr>Kafka Introduction</vt:lpstr>
      <vt:lpstr>Zeppelin Introduction</vt:lpstr>
      <vt:lpstr>Zeppelin Introduction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2019-05-19T18:31:18Z</dcterms:created>
  <dcterms:modified xsi:type="dcterms:W3CDTF">2019-05-21T12:29:31Z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